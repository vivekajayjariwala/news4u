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4" r:id="rId5"/>
    <p:sldId id="261" r:id="rId6"/>
    <p:sldId id="262" r:id="rId7"/>
    <p:sldId id="263" r:id="rId8"/>
    <p:sldId id="259" r:id="rId9"/>
    <p:sldId id="265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8849-FCDE-FD46-14E1-87B59542A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12D0A-7A20-0BBC-4F3F-C041976DF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02748-EEFC-A3EF-B3E6-4A8277BC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427B8-A273-C846-E44E-14ADFE9E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562D0-E73C-BC10-6FB6-BA10CDCE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21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ADA5-7F4D-0C71-4CE5-8B632BB7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BCD1F-4CD8-20A3-E949-DFFF83C7C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673E8-6BFA-A79C-55FC-B5382B0C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2F9B-01DB-BDDC-AD17-169E9AE82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50DBB-483F-1CD5-1D73-50490178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467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BEBD-7343-EB76-67DA-48A1A819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02F3E-5EC1-8C17-6C70-B0EB857D2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FF895-FA59-9D91-44B1-668D98D5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9529F-2606-8C4D-52A6-ED7B5CCCD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93DB3-50F4-4327-018C-8DACA946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13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5695-55B3-768F-FC75-05BC1FE4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7E4D7-39EB-AF6E-1445-6915679E7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AEDBE-A986-2607-DA2A-BD8065080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EA36C-0AFF-9FD6-0C90-84850510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87D39-03C8-F6B5-DF34-87782A6D5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B7888-38F0-8DA8-9BF6-34B2B8DE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051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6EB0-FD94-B38D-E08E-F9D1672E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C72DB-A781-F68B-F53B-0AFC1B95D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C8E7-5A08-E9D9-BFFD-D3D9C99A3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7A9EBE-8CD5-2030-35A6-8D2E251A4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E18E2-437D-00F5-5F24-EB5BD702D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54AA4-8E7A-578B-D6E2-C79A994B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F19A07-D1CD-0AC6-B2AB-05DADCE1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0B053-435F-2860-1558-924265F4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860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FADE-0129-44FB-E488-9C78E054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36976-A72D-FF06-8968-49E486DB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5B690-505D-CB3A-B0FF-53A1E067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45D42-31C7-36D8-3497-49030984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84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6BFAB-32FE-7E21-1F1C-81644CB0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7021B-B991-99B8-5675-D0083AA1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8B9A9-3C75-A089-8B47-8B9B52A1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569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FB38-DF6F-CF9C-5560-75D524C79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398AC-A848-E52B-E87B-95D82EC5E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C51CF-F761-C345-1F38-1FB322A75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E237C-CCF8-5AE0-E139-8BF75F12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81F8B-89B2-394D-021B-CB5A12FD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CBB23-D77F-D3B3-681E-F221E610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065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8898-A007-9B84-B7CA-BE5A9472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D720E-B664-EFDE-5315-0D1EE3BDA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13BF4-7764-D74D-3D3C-927EC5057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2DB0E-2C0B-F5B1-414E-3D0CE886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10539-EF82-6785-4C73-8221D9F2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C6C8F-923A-11F5-8C17-A147DE64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204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1AB63-B7C2-E2E7-9FC6-D5175962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3434D-8177-25BA-39D6-47E3327F6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07B25-7AA7-752D-A637-347D3E12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D620-DCBB-5667-0EC9-D31FAB61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1487-7552-FC1C-5B0F-B5573626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92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A8526-DA2B-6C1E-A957-552561729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8DAC3-6AD7-AC32-54CF-D5C73E473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8BEF-368C-D1C5-5DC9-9324D34A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36DD1-A629-2A28-520B-BA33F37C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56FF8-64E0-7A67-280D-DAD64F6C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05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5595F-9040-924C-622C-968D765E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5ECB1-713C-8480-E32A-73FB494A0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D24FF-9E1B-3011-29F7-7D153C91C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68B09-337A-42F2-88CE-6E89BBD7D8A8}" type="datetimeFigureOut">
              <a:rPr lang="en-CA" smtClean="0"/>
              <a:t>2025-10-24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818A9-BF80-FA48-B8D8-7D68224D1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8913C-C805-B6AD-F4DA-0761A7D85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B31C5-2E5F-4886-A333-1EFCEE2950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771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8A07-2A7A-2B92-35D6-F6AF397FF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news for u </a:t>
            </a:r>
            <a:r>
              <a:rPr lang="en-CA" dirty="0"/>
              <a:t>wireframes &amp; prototypes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2FE3A-A805-3370-AD6E-D475BA4B70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Version 1.0 – agile alligators</a:t>
            </a:r>
          </a:p>
        </p:txBody>
      </p:sp>
    </p:spTree>
    <p:extLst>
      <p:ext uri="{BB962C8B-B14F-4D97-AF65-F5344CB8AC3E}">
        <p14:creationId xmlns:p14="http://schemas.microsoft.com/office/powerpoint/2010/main" val="148971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7D58B-505E-6256-D50E-FCDF82734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"/>
          <a:stretch>
            <a:fillRect/>
          </a:stretch>
        </p:blipFill>
        <p:spPr>
          <a:xfrm>
            <a:off x="677704" y="1443841"/>
            <a:ext cx="6849875" cy="38598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F06EF3-D545-A0BB-9CC0-64F8F43EED37}"/>
              </a:ext>
            </a:extLst>
          </p:cNvPr>
          <p:cNvSpPr txBox="1"/>
          <p:nvPr/>
        </p:nvSpPr>
        <p:spPr>
          <a:xfrm>
            <a:off x="8171328" y="742271"/>
            <a:ext cx="33429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the user is not logged in, </a:t>
            </a:r>
            <a:r>
              <a:rPr lang="en-CA" sz="1600" i="1" dirty="0"/>
              <a:t>When</a:t>
            </a:r>
            <a:r>
              <a:rPr lang="en-CA" sz="1600" dirty="0"/>
              <a:t> they land on the homepage, </a:t>
            </a:r>
            <a:r>
              <a:rPr lang="en-CA" sz="1600" i="1" dirty="0"/>
              <a:t>Then</a:t>
            </a:r>
            <a:r>
              <a:rPr lang="en-CA" sz="1600" dirty="0"/>
              <a:t> they can navigate via the top bar (About Us, How It Works, Log In, Sign Up).</a:t>
            </a:r>
          </a:p>
          <a:p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Navigation clarity &amp; accessibility contrast.</a:t>
            </a:r>
          </a:p>
          <a:p>
            <a:r>
              <a:rPr lang="en-CA" sz="1600" dirty="0"/>
              <a:t>Check that users can find “Get Started” within 5 seconds.</a:t>
            </a:r>
          </a:p>
          <a:p>
            <a:r>
              <a:rPr lang="en-CA" sz="1600" dirty="0"/>
              <a:t>Confirm that clicking “Get Started” opens the sign-up pop-up (Slide 2).</a:t>
            </a:r>
          </a:p>
          <a:p>
            <a:r>
              <a:rPr lang="en-CA" sz="1600" i="1" dirty="0"/>
              <a:t>Accessibility Test:</a:t>
            </a:r>
            <a:r>
              <a:rPr lang="en-CA" sz="1600" dirty="0"/>
              <a:t> Toggle “High Contrast” → background darkens, all text meets </a:t>
            </a:r>
            <a:r>
              <a:rPr lang="en-CA" sz="1600" b="1" dirty="0"/>
              <a:t>contrast ratio ≥ 4.5 : 1</a:t>
            </a:r>
            <a:r>
              <a:rPr lang="en-CA" sz="1600" dirty="0"/>
              <a:t>.</a:t>
            </a:r>
          </a:p>
          <a:p>
            <a:endParaRPr lang="en-CA" sz="1600" dirty="0"/>
          </a:p>
          <a:p>
            <a:r>
              <a:rPr lang="en-CA" sz="1600" b="1" dirty="0"/>
              <a:t>Edge Case:</a:t>
            </a:r>
            <a:endParaRPr lang="en-CA" sz="1600" dirty="0"/>
          </a:p>
          <a:p>
            <a:r>
              <a:rPr lang="en-CA" sz="1600" i="1" dirty="0"/>
              <a:t>If</a:t>
            </a:r>
            <a:r>
              <a:rPr lang="en-CA" sz="1600" dirty="0"/>
              <a:t> user presses “Get Started” twice rapidly, </a:t>
            </a:r>
            <a:r>
              <a:rPr lang="en-CA" sz="1600" i="1" dirty="0"/>
              <a:t>Then</a:t>
            </a:r>
            <a:r>
              <a:rPr lang="en-CA" sz="1600" dirty="0"/>
              <a:t> pop-up appears once (no duplicate overlay).</a:t>
            </a:r>
          </a:p>
        </p:txBody>
      </p:sp>
    </p:spTree>
    <p:extLst>
      <p:ext uri="{BB962C8B-B14F-4D97-AF65-F5344CB8AC3E}">
        <p14:creationId xmlns:p14="http://schemas.microsoft.com/office/powerpoint/2010/main" val="60496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2480-A287-F073-D089-1CC5C0EA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8555F-70F4-0251-3E9C-CC87567AAD82}"/>
              </a:ext>
            </a:extLst>
          </p:cNvPr>
          <p:cNvSpPr txBox="1"/>
          <p:nvPr/>
        </p:nvSpPr>
        <p:spPr>
          <a:xfrm>
            <a:off x="8291543" y="543523"/>
            <a:ext cx="334296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Log In / Sign Up Pop-Up (Main Pathway)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the user clicks </a:t>
            </a:r>
            <a:r>
              <a:rPr lang="en-CA" sz="1600" b="1" dirty="0"/>
              <a:t>Log In</a:t>
            </a:r>
            <a:r>
              <a:rPr lang="en-CA" sz="1600" dirty="0"/>
              <a:t>, </a:t>
            </a:r>
            <a:r>
              <a:rPr lang="en-CA" sz="1600" i="1" dirty="0"/>
              <a:t>When</a:t>
            </a:r>
            <a:r>
              <a:rPr lang="en-CA" sz="1600" dirty="0"/>
              <a:t> they enter credentials and press “Submit,” </a:t>
            </a:r>
            <a:r>
              <a:rPr lang="en-CA" sz="1600" i="1" dirty="0"/>
              <a:t>Then</a:t>
            </a:r>
            <a:r>
              <a:rPr lang="en-CA" sz="1600" dirty="0"/>
              <a:t> the system validates and either authenticates or shows an error.</a:t>
            </a:r>
          </a:p>
          <a:p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Error visibility and recovery.</a:t>
            </a:r>
          </a:p>
          <a:p>
            <a:r>
              <a:rPr lang="en-CA" sz="1600" dirty="0"/>
              <a:t>Intentionally test invalid credentials → red text “Email or password incorrect.”</a:t>
            </a:r>
          </a:p>
          <a:p>
            <a:r>
              <a:rPr lang="en-CA" sz="1600" dirty="0"/>
              <a:t>Confirm the error text is high-contrast and appears within </a:t>
            </a:r>
            <a:r>
              <a:rPr lang="en-CA" sz="1600" b="1" dirty="0"/>
              <a:t>0.5 s</a:t>
            </a:r>
            <a:r>
              <a:rPr lang="en-CA" sz="1600" dirty="0"/>
              <a:t>.</a:t>
            </a:r>
          </a:p>
          <a:p>
            <a:r>
              <a:rPr lang="en-CA" sz="1600" i="1" dirty="0"/>
              <a:t>Accessibility:</a:t>
            </a:r>
            <a:r>
              <a:rPr lang="en-CA" sz="1600" dirty="0"/>
              <a:t> Screen reader announces “Login failed.”</a:t>
            </a:r>
          </a:p>
          <a:p>
            <a:endParaRPr lang="en-CA" sz="1600" dirty="0"/>
          </a:p>
          <a:p>
            <a:r>
              <a:rPr lang="en-CA" sz="1600" b="1" dirty="0"/>
              <a:t>Usability Goal:</a:t>
            </a:r>
            <a:r>
              <a:rPr lang="en-CA" sz="1600" dirty="0"/>
              <a:t> Verify users locate the </a:t>
            </a:r>
            <a:r>
              <a:rPr lang="en-CA" sz="1600" b="1" dirty="0"/>
              <a:t>“Forgot Password?”</a:t>
            </a:r>
            <a:r>
              <a:rPr lang="en-CA" sz="1600" dirty="0"/>
              <a:t> link after an error without hints.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29938-4226-4C3B-B550-6129B609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1434168"/>
            <a:ext cx="7053480" cy="397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6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8E7E-D244-811D-1B34-8FB4D4D3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35909-7238-5E84-9E14-5528E6CD5B3C}"/>
              </a:ext>
            </a:extLst>
          </p:cNvPr>
          <p:cNvSpPr txBox="1"/>
          <p:nvPr/>
        </p:nvSpPr>
        <p:spPr>
          <a:xfrm>
            <a:off x="8291543" y="1376427"/>
            <a:ext cx="33429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Log In (Error Variant)</a:t>
            </a:r>
          </a:p>
          <a:p>
            <a:endParaRPr lang="en-CA" sz="1600" dirty="0"/>
          </a:p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invalid credentials are entered twice, </a:t>
            </a:r>
            <a:r>
              <a:rPr lang="en-CA" sz="1600" i="1" dirty="0"/>
              <a:t>When</a:t>
            </a:r>
            <a:r>
              <a:rPr lang="en-CA" sz="1600" dirty="0"/>
              <a:t> “Log In” is clicked, </a:t>
            </a:r>
            <a:r>
              <a:rPr lang="en-CA" sz="1600" i="1" dirty="0"/>
              <a:t>Then</a:t>
            </a:r>
            <a:r>
              <a:rPr lang="en-CA" sz="1600" dirty="0"/>
              <a:t> a red error banner appears and the </a:t>
            </a:r>
            <a:r>
              <a:rPr lang="en-CA" sz="1600" b="1" dirty="0"/>
              <a:t>“Forgot Password?”</a:t>
            </a:r>
            <a:r>
              <a:rPr lang="en-CA" sz="1600" dirty="0"/>
              <a:t> link becomes visually emphasized.</a:t>
            </a:r>
          </a:p>
          <a:p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Recovery comprehension.</a:t>
            </a:r>
          </a:p>
          <a:p>
            <a:r>
              <a:rPr lang="en-CA" sz="1600" dirty="0"/>
              <a:t>Ask testers: “What would you do next?”</a:t>
            </a:r>
          </a:p>
          <a:p>
            <a:r>
              <a:rPr lang="en-CA" sz="1600" dirty="0"/>
              <a:t>Measure how long it takes users to notice and use the recovery link.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E4D12-1837-A00D-38E0-D5E35F752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1434168"/>
            <a:ext cx="7053480" cy="397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364A-DC7E-C581-F375-0FFAB3E8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B6F3BB-6C38-5912-B887-B06265DF976A}"/>
              </a:ext>
            </a:extLst>
          </p:cNvPr>
          <p:cNvSpPr txBox="1"/>
          <p:nvPr/>
        </p:nvSpPr>
        <p:spPr>
          <a:xfrm>
            <a:off x="8280254" y="1175118"/>
            <a:ext cx="33429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Forgot Password</a:t>
            </a:r>
          </a:p>
          <a:p>
            <a:endParaRPr lang="en-CA" sz="1600" dirty="0"/>
          </a:p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the user clicks “Forgot Password,” </a:t>
            </a:r>
            <a:r>
              <a:rPr lang="en-CA" sz="1600" i="1" dirty="0"/>
              <a:t>When</a:t>
            </a:r>
            <a:r>
              <a:rPr lang="en-CA" sz="1600" dirty="0"/>
              <a:t> they submit an email, </a:t>
            </a:r>
            <a:r>
              <a:rPr lang="en-CA" sz="1600" i="1" dirty="0"/>
              <a:t>Then</a:t>
            </a:r>
            <a:r>
              <a:rPr lang="en-CA" sz="1600" dirty="0"/>
              <a:t> the UI confirms “If an account exists, you’ll receive a reset link.”</a:t>
            </a:r>
          </a:p>
          <a:p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Neutral feedback and reassurance.</a:t>
            </a:r>
          </a:p>
          <a:p>
            <a:r>
              <a:rPr lang="en-CA" sz="1600" dirty="0"/>
              <a:t>Prevents disclosure of whether an email exists.</a:t>
            </a:r>
          </a:p>
          <a:p>
            <a:r>
              <a:rPr lang="en-CA" sz="1600" dirty="0"/>
              <a:t>Ensure confirmation appears within </a:t>
            </a:r>
            <a:r>
              <a:rPr lang="en-CA" sz="1600" b="1" dirty="0"/>
              <a:t>2 s</a:t>
            </a:r>
            <a:r>
              <a:rPr lang="en-CA" sz="1600" dirty="0"/>
              <a:t>.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Accessibility Goal:</a:t>
            </a:r>
            <a:r>
              <a:rPr lang="en-CA" sz="1600" dirty="0"/>
              <a:t> Confirmation text read aloud by screen reader.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68B73-8E37-B861-A835-3AF8A3CE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45" y="1450720"/>
            <a:ext cx="7053480" cy="39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8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2FE6-EE49-99CF-BC1A-69135EAB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325CA9-75F4-A986-459D-FD2586F04C71}"/>
              </a:ext>
            </a:extLst>
          </p:cNvPr>
          <p:cNvSpPr txBox="1"/>
          <p:nvPr/>
        </p:nvSpPr>
        <p:spPr>
          <a:xfrm>
            <a:off x="8291543" y="1060050"/>
            <a:ext cx="334296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Sign Up (Password Constraints)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a new user opens “Sign Up,” </a:t>
            </a:r>
            <a:r>
              <a:rPr lang="en-CA" sz="1600" i="1" dirty="0"/>
              <a:t>When</a:t>
            </a:r>
            <a:r>
              <a:rPr lang="en-CA" sz="1600" dirty="0"/>
              <a:t> they enter a password, </a:t>
            </a:r>
            <a:r>
              <a:rPr lang="en-CA" sz="1600" i="1" dirty="0"/>
              <a:t>Then</a:t>
            </a:r>
            <a:r>
              <a:rPr lang="en-CA" sz="1600" dirty="0"/>
              <a:t> visual indicators show which constraints (8+ chars, upper/lowercase, number) are unmet.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Progressive error reduction &amp; disabled button logic.</a:t>
            </a:r>
          </a:p>
          <a:p>
            <a:r>
              <a:rPr lang="en-CA" sz="1600" dirty="0"/>
              <a:t>“Sign Up” button remains disabled until all constraints satisfied.</a:t>
            </a:r>
          </a:p>
          <a:p>
            <a:r>
              <a:rPr lang="en-CA" sz="1600" dirty="0"/>
              <a:t>Red text disappears dynamically as constraints are met.</a:t>
            </a:r>
          </a:p>
          <a:p>
            <a:r>
              <a:rPr lang="en-CA" sz="1600" dirty="0"/>
              <a:t>Ask testers if they understand the rule feedback without reading full text.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B3915-E316-80DF-06EB-67DA422A5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45" y="1466806"/>
            <a:ext cx="7053480" cy="395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62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4D78-8BB9-3FF4-2E4E-816E06A4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47FC06-31A6-7244-AD1F-1A7B6E045AEE}"/>
              </a:ext>
            </a:extLst>
          </p:cNvPr>
          <p:cNvSpPr txBox="1"/>
          <p:nvPr/>
        </p:nvSpPr>
        <p:spPr>
          <a:xfrm>
            <a:off x="8268965" y="1166842"/>
            <a:ext cx="33429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Sign Up – Interest Collection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password creation succeeded, </a:t>
            </a:r>
            <a:r>
              <a:rPr lang="en-CA" sz="1600" i="1" dirty="0"/>
              <a:t>When</a:t>
            </a:r>
            <a:r>
              <a:rPr lang="en-CA" sz="1600" dirty="0"/>
              <a:t> user selects interests, </a:t>
            </a:r>
            <a:r>
              <a:rPr lang="en-CA" sz="1600" i="1" dirty="0"/>
              <a:t>Then</a:t>
            </a:r>
            <a:r>
              <a:rPr lang="en-CA" sz="1600" dirty="0"/>
              <a:t> each selected topic highlights in blue (max 5 selections).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Interaction clarity and error prevention.</a:t>
            </a:r>
          </a:p>
          <a:p>
            <a:r>
              <a:rPr lang="en-CA" sz="1600" dirty="0"/>
              <a:t>Attempt 6th selection → show toast: “You can select up to 5 topics.”</a:t>
            </a:r>
          </a:p>
          <a:p>
            <a:r>
              <a:rPr lang="en-CA" sz="1600" i="1" dirty="0"/>
              <a:t>Accessibility:</a:t>
            </a:r>
            <a:r>
              <a:rPr lang="en-CA" sz="1600" dirty="0"/>
              <a:t> Keyboard users can tab through interest list.</a:t>
            </a:r>
          </a:p>
          <a:p>
            <a:endParaRPr lang="en-CA" sz="1600" dirty="0"/>
          </a:p>
          <a:p>
            <a:r>
              <a:rPr lang="en-CA" sz="1600" b="1" dirty="0"/>
              <a:t>Usability Goal:</a:t>
            </a:r>
            <a:r>
              <a:rPr lang="en-CA" sz="1600" dirty="0"/>
              <a:t> Ensure users grasp how to finalize with “Get Started.”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A6F05-CC39-A43D-A981-8FAF73AAB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77" y="1466806"/>
            <a:ext cx="7053480" cy="39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6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AF92F8-ADBD-5F09-EFAA-8B78C207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92" y="1382833"/>
            <a:ext cx="7303179" cy="4073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0EEA0B-C4C4-27A6-5CAC-24F6BA5BDD39}"/>
              </a:ext>
            </a:extLst>
          </p:cNvPr>
          <p:cNvSpPr txBox="1"/>
          <p:nvPr/>
        </p:nvSpPr>
        <p:spPr>
          <a:xfrm>
            <a:off x="8362663" y="305068"/>
            <a:ext cx="334296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the user is logged in, </a:t>
            </a:r>
            <a:r>
              <a:rPr lang="en-CA" sz="1600" i="1" dirty="0"/>
              <a:t>When</a:t>
            </a:r>
            <a:r>
              <a:rPr lang="en-CA" sz="1600" dirty="0"/>
              <a:t> the homepage loads, </a:t>
            </a:r>
            <a:r>
              <a:rPr lang="en-CA" sz="1600" i="1" dirty="0"/>
              <a:t>Then</a:t>
            </a:r>
            <a:r>
              <a:rPr lang="en-CA" sz="1600" dirty="0"/>
              <a:t> the top article (based on recency &amp; interests) is displayed with a “Read More” option.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Personalization transparency &amp; discoverability.</a:t>
            </a:r>
          </a:p>
          <a:p>
            <a:r>
              <a:rPr lang="en-CA" sz="1600" dirty="0"/>
              <a:t>Ask testers: “Do you understand why this article is shown?”</a:t>
            </a:r>
          </a:p>
          <a:p>
            <a:r>
              <a:rPr lang="en-CA" sz="1600" dirty="0"/>
              <a:t>“See My Picks” → navigates to list view.</a:t>
            </a:r>
          </a:p>
          <a:p>
            <a:endParaRPr lang="en-CA" sz="1600" dirty="0"/>
          </a:p>
          <a:p>
            <a:r>
              <a:rPr lang="en-CA" sz="1600" b="1" dirty="0"/>
              <a:t>Edge Cases:</a:t>
            </a:r>
            <a:endParaRPr lang="en-CA" sz="1600" dirty="0"/>
          </a:p>
          <a:p>
            <a:r>
              <a:rPr lang="en-CA" sz="1600" i="1" dirty="0"/>
              <a:t>If</a:t>
            </a:r>
            <a:r>
              <a:rPr lang="en-CA" sz="1600" dirty="0"/>
              <a:t> no articles available → placeholder “No articles yet. Try adding new topics.”</a:t>
            </a:r>
          </a:p>
          <a:p>
            <a:r>
              <a:rPr lang="en-CA" sz="1600" i="1" dirty="0"/>
              <a:t>If</a:t>
            </a:r>
            <a:r>
              <a:rPr lang="en-CA" sz="1600" dirty="0"/>
              <a:t> slow network → show loading skeleton for ≤ 2 s (meets </a:t>
            </a:r>
            <a:r>
              <a:rPr lang="en-CA" sz="1600" b="1" dirty="0"/>
              <a:t>Performance NFR-1</a:t>
            </a:r>
            <a:r>
              <a:rPr lang="en-CA" sz="1600" dirty="0"/>
              <a:t>).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Accessibility Goal:</a:t>
            </a:r>
            <a:r>
              <a:rPr lang="en-CA" sz="1600" dirty="0"/>
              <a:t> Verify all interactive elements are focusable via keyboard.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04497-236F-AA98-BDAD-6C11FF533687}"/>
              </a:ext>
            </a:extLst>
          </p:cNvPr>
          <p:cNvSpPr txBox="1"/>
          <p:nvPr/>
        </p:nvSpPr>
        <p:spPr>
          <a:xfrm>
            <a:off x="5314663" y="30506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600" b="1" u="sng" dirty="0"/>
              <a:t>Home Screen (Logged In)</a:t>
            </a:r>
          </a:p>
        </p:txBody>
      </p:sp>
    </p:spTree>
    <p:extLst>
      <p:ext uri="{BB962C8B-B14F-4D97-AF65-F5344CB8AC3E}">
        <p14:creationId xmlns:p14="http://schemas.microsoft.com/office/powerpoint/2010/main" val="269595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9769-C4FC-120A-4C3D-79A061F54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161F87-32BD-A6B6-E143-71D25D70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92" y="1382833"/>
            <a:ext cx="7303179" cy="4073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307ADC-3A49-7AA6-B4CD-2AC64D6FF3F8}"/>
              </a:ext>
            </a:extLst>
          </p:cNvPr>
          <p:cNvSpPr txBox="1"/>
          <p:nvPr/>
        </p:nvSpPr>
        <p:spPr>
          <a:xfrm>
            <a:off x="8351374" y="1280329"/>
            <a:ext cx="334296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Explore Articles / Add Topic</a:t>
            </a:r>
          </a:p>
          <a:p>
            <a:endParaRPr lang="en-CA" sz="1600" dirty="0"/>
          </a:p>
          <a:p>
            <a:r>
              <a:rPr lang="en-CA" sz="1600" b="1" dirty="0"/>
              <a:t>Flow Description:</a:t>
            </a:r>
            <a:endParaRPr lang="en-CA" sz="1600" dirty="0"/>
          </a:p>
          <a:p>
            <a:r>
              <a:rPr lang="en-CA" sz="1600" i="1" dirty="0"/>
              <a:t>Given</a:t>
            </a:r>
            <a:r>
              <a:rPr lang="en-CA" sz="1600" dirty="0"/>
              <a:t> a user is browsing, </a:t>
            </a:r>
            <a:r>
              <a:rPr lang="en-CA" sz="1600" i="1" dirty="0"/>
              <a:t>When</a:t>
            </a:r>
            <a:r>
              <a:rPr lang="en-CA" sz="1600" dirty="0"/>
              <a:t> they type into search or add topic, </a:t>
            </a:r>
            <a:r>
              <a:rPr lang="en-CA" sz="1600" i="1" dirty="0"/>
              <a:t>Then</a:t>
            </a:r>
            <a:r>
              <a:rPr lang="en-CA" sz="1600" dirty="0"/>
              <a:t> results appear dynamically.</a:t>
            </a:r>
          </a:p>
          <a:p>
            <a:endParaRPr lang="en-CA" sz="1600" dirty="0"/>
          </a:p>
          <a:p>
            <a:r>
              <a:rPr lang="en-CA" sz="1600" b="1" dirty="0"/>
              <a:t>Validation Focus:</a:t>
            </a:r>
            <a:r>
              <a:rPr lang="en-CA" sz="1600" dirty="0"/>
              <a:t> Empty-state &amp; error handling.</a:t>
            </a:r>
          </a:p>
          <a:p>
            <a:r>
              <a:rPr lang="en-CA" sz="1600" dirty="0"/>
              <a:t>No results → “Nothing found for ‘query’ — try another term.”</a:t>
            </a:r>
          </a:p>
          <a:p>
            <a:r>
              <a:rPr lang="en-CA" sz="1600" dirty="0"/>
              <a:t>Blank field disables “Add Topic” button.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Usability Goal:</a:t>
            </a:r>
            <a:r>
              <a:rPr lang="en-CA" sz="1600" dirty="0"/>
              <a:t> Confirm users can recover from an empty search without confusion.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92513-976C-715E-43BC-FF1DA7ACE1B7}"/>
              </a:ext>
            </a:extLst>
          </p:cNvPr>
          <p:cNvSpPr/>
          <p:nvPr/>
        </p:nvSpPr>
        <p:spPr>
          <a:xfrm>
            <a:off x="3465689" y="1402080"/>
            <a:ext cx="914400" cy="528320"/>
          </a:xfrm>
          <a:prstGeom prst="rect">
            <a:avLst/>
          </a:prstGeom>
          <a:noFill/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72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DE9FF-9F4A-87EF-2148-421B0186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i="1" dirty="0"/>
              <a:t>High-Risk Concept Flow Prototype</a:t>
            </a:r>
            <a:r>
              <a:rPr lang="en-CA" sz="2400" b="1" i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CA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CA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Reading Level Toggle</a:t>
            </a:r>
            <a:endParaRPr lang="en-US" dirty="0">
              <a:solidFill>
                <a:srgbClr val="0058A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6CE1F-CC55-07C0-0CC6-E020F524A289}"/>
              </a:ext>
            </a:extLst>
          </p:cNvPr>
          <p:cNvSpPr txBox="1"/>
          <p:nvPr/>
        </p:nvSpPr>
        <p:spPr>
          <a:xfrm>
            <a:off x="838200" y="1690688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Scenario Title:</a:t>
            </a:r>
            <a:r>
              <a:rPr lang="en-CA" dirty="0"/>
              <a:t> </a:t>
            </a:r>
            <a:r>
              <a:rPr lang="en-CA" i="1" dirty="0"/>
              <a:t>Switch Between Reading Levels (Beginner / Intermediate / Expert)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Flow Description:</a:t>
            </a:r>
            <a:endParaRPr lang="en-CA" dirty="0"/>
          </a:p>
          <a:p>
            <a:r>
              <a:rPr lang="en-CA" i="1" dirty="0"/>
              <a:t>Given</a:t>
            </a:r>
            <a:r>
              <a:rPr lang="en-CA" dirty="0"/>
              <a:t> the user is reading an article at “Beginner” level,</a:t>
            </a:r>
          </a:p>
          <a:p>
            <a:r>
              <a:rPr lang="en-CA" i="1" dirty="0"/>
              <a:t>When</a:t>
            </a:r>
            <a:r>
              <a:rPr lang="en-CA" dirty="0"/>
              <a:t> they select “Intermediate” or “Expert,”</a:t>
            </a:r>
          </a:p>
          <a:p>
            <a:r>
              <a:rPr lang="en-CA" i="1" dirty="0"/>
              <a:t>Then</a:t>
            </a:r>
            <a:r>
              <a:rPr lang="en-CA" dirty="0"/>
              <a:t> the system regenerates the article summary via AI within </a:t>
            </a:r>
            <a:r>
              <a:rPr lang="en-CA" b="1" dirty="0"/>
              <a:t>2 seconds</a:t>
            </a:r>
            <a:r>
              <a:rPr lang="en-CA" dirty="0"/>
              <a:t>, showing a </a:t>
            </a:r>
            <a:r>
              <a:rPr lang="en-CA" b="1" dirty="0"/>
              <a:t>spinner/loading state</a:t>
            </a:r>
            <a:r>
              <a:rPr lang="en-CA" dirty="0"/>
              <a:t> until complete.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Validation Focus:</a:t>
            </a:r>
            <a:endParaRPr lang="en-CA" dirty="0"/>
          </a:p>
          <a:p>
            <a:r>
              <a:rPr lang="en-CA" dirty="0"/>
              <a:t>Do users understand that different levels mean different depth, not different topics?</a:t>
            </a:r>
          </a:p>
          <a:p>
            <a:r>
              <a:rPr lang="en-CA" dirty="0"/>
              <a:t>Can users tolerate a short delay while AI regenerates text?</a:t>
            </a:r>
          </a:p>
          <a:p>
            <a:r>
              <a:rPr lang="en-CA" dirty="0"/>
              <a:t>Does the spinner or placeholder communicate progress clearly?</a:t>
            </a:r>
          </a:p>
          <a:p>
            <a:endParaRPr lang="en-CA" dirty="0"/>
          </a:p>
          <a:p>
            <a:r>
              <a:rPr lang="en-CA" b="1" dirty="0"/>
              <a:t>Edge Cases:</a:t>
            </a:r>
            <a:endParaRPr lang="en-CA" dirty="0"/>
          </a:p>
          <a:p>
            <a:r>
              <a:rPr lang="en-CA" dirty="0"/>
              <a:t>AI fails → fallback: “Couldn’t load expert version—try again.”</a:t>
            </a:r>
          </a:p>
          <a:p>
            <a:r>
              <a:rPr lang="en-CA" dirty="0"/>
              <a:t>Accessibility: Screen reader announces “Loading expert version.”</a:t>
            </a:r>
          </a:p>
        </p:txBody>
      </p:sp>
    </p:spTree>
    <p:extLst>
      <p:ext uri="{BB962C8B-B14F-4D97-AF65-F5344CB8AC3E}">
        <p14:creationId xmlns:p14="http://schemas.microsoft.com/office/powerpoint/2010/main" val="2615139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CF0A-89CA-E9FE-9960-03C8295FB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795F-D739-E1A2-2B56-502953EF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400" i="1" dirty="0"/>
              <a:t>High-Risk Concept Flow Prototype</a:t>
            </a:r>
            <a:r>
              <a:rPr lang="en-CA" sz="2400" b="1" i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CA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CA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Tooltip Definitions </a:t>
            </a:r>
            <a:r>
              <a:rPr lang="en-CA" sz="2400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(Highlight &amp; Explain Terms)</a:t>
            </a:r>
            <a:endParaRPr lang="en-US" sz="2400" dirty="0">
              <a:solidFill>
                <a:srgbClr val="0058A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9BF11-C819-D932-982D-B5BFEA0B6BE9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Scenario Title:</a:t>
            </a:r>
            <a:r>
              <a:rPr lang="en-CA" dirty="0"/>
              <a:t> </a:t>
            </a:r>
            <a:r>
              <a:rPr lang="en-CA" i="1" dirty="0"/>
              <a:t>View Definitions of Technical Terms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Flow Description:</a:t>
            </a:r>
            <a:endParaRPr lang="en-CA" dirty="0"/>
          </a:p>
          <a:p>
            <a:r>
              <a:rPr lang="en-CA" i="1" dirty="0"/>
              <a:t>Given</a:t>
            </a:r>
            <a:r>
              <a:rPr lang="en-CA" dirty="0"/>
              <a:t> an article displays highlighted terms (e.g., “fiscal policy”),</a:t>
            </a:r>
          </a:p>
          <a:p>
            <a:r>
              <a:rPr lang="en-CA" i="1" dirty="0"/>
              <a:t>When</a:t>
            </a:r>
            <a:r>
              <a:rPr lang="en-CA" dirty="0"/>
              <a:t> the user hovers or taps on the word,</a:t>
            </a:r>
          </a:p>
          <a:p>
            <a:r>
              <a:rPr lang="en-CA" i="1" dirty="0"/>
              <a:t>Then</a:t>
            </a:r>
            <a:r>
              <a:rPr lang="en-CA" dirty="0"/>
              <a:t> a small tooltip shows a concise definition, closing automatically when focus moves away.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Validation Focus:</a:t>
            </a:r>
            <a:endParaRPr lang="en-CA" dirty="0"/>
          </a:p>
          <a:p>
            <a:r>
              <a:rPr lang="en-CA" dirty="0"/>
              <a:t>Can users trigger and close tooltips easily on both desktop and mobile?</a:t>
            </a:r>
          </a:p>
          <a:p>
            <a:r>
              <a:rPr lang="en-CA" dirty="0"/>
              <a:t>Is the definition concise and readable (≤ 20 words)?</a:t>
            </a:r>
          </a:p>
          <a:p>
            <a:r>
              <a:rPr lang="en-CA" dirty="0"/>
              <a:t>Do popups avoid covering surrounding text?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Edge Cases:</a:t>
            </a:r>
            <a:endParaRPr lang="en-CA" dirty="0"/>
          </a:p>
          <a:p>
            <a:r>
              <a:rPr lang="en-CA" dirty="0"/>
              <a:t>Tooltip overlaps adjacent words → reposition automatically.</a:t>
            </a:r>
          </a:p>
          <a:p>
            <a:r>
              <a:rPr lang="en-CA" dirty="0"/>
              <a:t>Keyboard users can tab through highlights.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Accessibility Goal:</a:t>
            </a:r>
            <a:r>
              <a:rPr lang="en-CA" dirty="0"/>
              <a:t> Tooltip meets </a:t>
            </a:r>
            <a:r>
              <a:rPr lang="en-CA" b="1" dirty="0"/>
              <a:t>contrast ≥ 4.5:1</a:t>
            </a:r>
            <a:r>
              <a:rPr lang="en-CA" dirty="0"/>
              <a:t>, screen reader reads term + definition.</a:t>
            </a:r>
          </a:p>
        </p:txBody>
      </p:sp>
    </p:spTree>
    <p:extLst>
      <p:ext uri="{BB962C8B-B14F-4D97-AF65-F5344CB8AC3E}">
        <p14:creationId xmlns:p14="http://schemas.microsoft.com/office/powerpoint/2010/main" val="353995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8B1E-32CC-2C4E-BB17-A24BFDE2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31D1C-DDF0-8A86-098F-B3E4525A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400" i="1" dirty="0"/>
              <a:t>High-Risk Concept Flow Prototype</a:t>
            </a:r>
            <a:r>
              <a:rPr lang="en-CA" sz="2400" b="1" i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CA" sz="2400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CA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Feedback</a:t>
            </a:r>
            <a:endParaRPr lang="en-US" sz="2400" dirty="0">
              <a:solidFill>
                <a:srgbClr val="0058A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37BA8-9902-1524-C857-419D800803A3}"/>
              </a:ext>
            </a:extLst>
          </p:cNvPr>
          <p:cNvSpPr txBox="1"/>
          <p:nvPr/>
        </p:nvSpPr>
        <p:spPr>
          <a:xfrm>
            <a:off x="838200" y="1691561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Scenario Title:</a:t>
            </a:r>
            <a:r>
              <a:rPr lang="en-CA" dirty="0"/>
              <a:t> </a:t>
            </a:r>
            <a:r>
              <a:rPr lang="en-CA" i="1" dirty="0"/>
              <a:t>Give Feedback on Recommended Articles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Flow Description:</a:t>
            </a:r>
            <a:endParaRPr lang="en-CA" dirty="0"/>
          </a:p>
          <a:p>
            <a:r>
              <a:rPr lang="en-CA" i="1" dirty="0"/>
              <a:t>Given</a:t>
            </a:r>
            <a:r>
              <a:rPr lang="en-CA" dirty="0"/>
              <a:t> a user finishes reading an article,</a:t>
            </a:r>
          </a:p>
          <a:p>
            <a:r>
              <a:rPr lang="en-CA" i="1" dirty="0"/>
              <a:t>When</a:t>
            </a:r>
            <a:r>
              <a:rPr lang="en-CA" dirty="0"/>
              <a:t> the system shows 3–5 recommended articles,</a:t>
            </a:r>
          </a:p>
          <a:p>
            <a:r>
              <a:rPr lang="en-CA" i="1" dirty="0"/>
              <a:t>Then</a:t>
            </a:r>
            <a:r>
              <a:rPr lang="en-CA" dirty="0"/>
              <a:t> the user can mark each as “Useful 👍” or “Not Useful 👎.”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Validation Focus:</a:t>
            </a:r>
            <a:endParaRPr lang="en-CA" dirty="0"/>
          </a:p>
          <a:p>
            <a:r>
              <a:rPr lang="en-CA" dirty="0"/>
              <a:t>Do users recognize that feedback affects future recommendations?</a:t>
            </a:r>
          </a:p>
          <a:p>
            <a:r>
              <a:rPr lang="en-CA" dirty="0"/>
              <a:t>Is it clear that marking “Not Useful” removes the article immediately?</a:t>
            </a:r>
          </a:p>
          <a:p>
            <a:r>
              <a:rPr lang="en-CA" dirty="0"/>
              <a:t>Can users undo or change feedback easily?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Edge Cases:</a:t>
            </a:r>
            <a:endParaRPr lang="en-CA" dirty="0"/>
          </a:p>
          <a:p>
            <a:r>
              <a:rPr lang="en-CA" dirty="0"/>
              <a:t>Previously read articles do </a:t>
            </a:r>
            <a:r>
              <a:rPr lang="en-CA" b="1" dirty="0"/>
              <a:t>not</a:t>
            </a:r>
            <a:r>
              <a:rPr lang="en-CA" dirty="0"/>
              <a:t> reappear (meets functional story “Avoid Duplicate Recommendations”).</a:t>
            </a:r>
          </a:p>
          <a:p>
            <a:r>
              <a:rPr lang="en-CA" dirty="0"/>
              <a:t>Tooltip confirms feedback: “Thanks! We’ll adjust your feed.”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Performance Check:</a:t>
            </a:r>
            <a:r>
              <a:rPr lang="en-CA" dirty="0"/>
              <a:t> Interaction response ≤ </a:t>
            </a:r>
            <a:r>
              <a:rPr lang="en-CA" b="1" dirty="0"/>
              <a:t>0.5 s</a:t>
            </a:r>
            <a:r>
              <a:rPr lang="en-CA" dirty="0"/>
              <a:t> after click.</a:t>
            </a:r>
          </a:p>
        </p:txBody>
      </p:sp>
    </p:spTree>
    <p:extLst>
      <p:ext uri="{BB962C8B-B14F-4D97-AF65-F5344CB8AC3E}">
        <p14:creationId xmlns:p14="http://schemas.microsoft.com/office/powerpoint/2010/main" val="3863219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A74A-146D-36CC-74CB-AC7D9AD5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81CA-6AD8-0CC8-11E4-8764DC85D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9356" cy="1325563"/>
          </a:xfrm>
        </p:spPr>
        <p:txBody>
          <a:bodyPr>
            <a:normAutofit fontScale="90000"/>
          </a:bodyPr>
          <a:lstStyle/>
          <a:p>
            <a:r>
              <a:rPr lang="en-CA" sz="2700" i="1" dirty="0"/>
              <a:t>High-Risk Concept Flow Prototype</a:t>
            </a:r>
            <a:r>
              <a:rPr lang="en-CA" sz="2700" b="1" i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CA" sz="2700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CA" sz="4900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Subscription &amp; Breaking News Alerts</a:t>
            </a:r>
            <a:endParaRPr lang="en-US" sz="4900" dirty="0">
              <a:solidFill>
                <a:srgbClr val="0058A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A1A33-63A3-70A3-ED7F-477295E73DD7}"/>
              </a:ext>
            </a:extLst>
          </p:cNvPr>
          <p:cNvSpPr txBox="1"/>
          <p:nvPr/>
        </p:nvSpPr>
        <p:spPr>
          <a:xfrm>
            <a:off x="838200" y="1691561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Scenario Title:</a:t>
            </a:r>
            <a:r>
              <a:rPr lang="en-CA" dirty="0"/>
              <a:t> </a:t>
            </a:r>
            <a:r>
              <a:rPr lang="en-CA" i="1" dirty="0"/>
              <a:t>Give Feedback on Recommended Articles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Flow Description:</a:t>
            </a:r>
            <a:endParaRPr lang="en-CA" dirty="0"/>
          </a:p>
          <a:p>
            <a:r>
              <a:rPr lang="en-CA" i="1" dirty="0"/>
              <a:t>Given</a:t>
            </a:r>
            <a:r>
              <a:rPr lang="en-CA" dirty="0"/>
              <a:t> a user finishes reading an article,</a:t>
            </a:r>
          </a:p>
          <a:p>
            <a:r>
              <a:rPr lang="en-CA" i="1" dirty="0"/>
              <a:t>When</a:t>
            </a:r>
            <a:r>
              <a:rPr lang="en-CA" dirty="0"/>
              <a:t> the system shows 3–5 recommended articles,</a:t>
            </a:r>
          </a:p>
          <a:p>
            <a:r>
              <a:rPr lang="en-CA" i="1" dirty="0"/>
              <a:t>Then</a:t>
            </a:r>
            <a:r>
              <a:rPr lang="en-CA" dirty="0"/>
              <a:t> the user can mark each as “Useful 👍” or “Not Useful 👎.”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Validation Focus:</a:t>
            </a:r>
            <a:endParaRPr lang="en-CA" dirty="0"/>
          </a:p>
          <a:p>
            <a:r>
              <a:rPr lang="en-CA" dirty="0"/>
              <a:t>Do users recognize that feedback affects future recommendations?</a:t>
            </a:r>
          </a:p>
          <a:p>
            <a:r>
              <a:rPr lang="en-CA" dirty="0"/>
              <a:t>Is it clear that marking “Not Useful” removes the article immediately?</a:t>
            </a:r>
          </a:p>
          <a:p>
            <a:r>
              <a:rPr lang="en-CA" dirty="0"/>
              <a:t>Can users undo or change feedback easily?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Edge Cases:</a:t>
            </a:r>
            <a:endParaRPr lang="en-CA" dirty="0"/>
          </a:p>
          <a:p>
            <a:r>
              <a:rPr lang="en-CA" dirty="0"/>
              <a:t>Previously read articles do </a:t>
            </a:r>
            <a:r>
              <a:rPr lang="en-CA" b="1" dirty="0"/>
              <a:t>not</a:t>
            </a:r>
            <a:r>
              <a:rPr lang="en-CA" dirty="0"/>
              <a:t> reappear (meets functional story “Avoid Duplicate Recommendations”).</a:t>
            </a:r>
          </a:p>
          <a:p>
            <a:r>
              <a:rPr lang="en-CA" dirty="0"/>
              <a:t>Tooltip confirms feedback: “Thanks! We’ll adjust your feed.”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Performance Check:</a:t>
            </a:r>
            <a:r>
              <a:rPr lang="en-CA" dirty="0"/>
              <a:t> Interaction response ≤ </a:t>
            </a:r>
            <a:r>
              <a:rPr lang="en-CA" b="1" dirty="0"/>
              <a:t>0.5 s</a:t>
            </a:r>
            <a:r>
              <a:rPr lang="en-CA" dirty="0"/>
              <a:t> after click.</a:t>
            </a:r>
          </a:p>
        </p:txBody>
      </p:sp>
    </p:spTree>
    <p:extLst>
      <p:ext uri="{BB962C8B-B14F-4D97-AF65-F5344CB8AC3E}">
        <p14:creationId xmlns:p14="http://schemas.microsoft.com/office/powerpoint/2010/main" val="27424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BD8E-8225-7F49-5DB6-9B7C73245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CBF-E2E1-2CC2-1A2A-32C906FA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400" i="1" dirty="0"/>
              <a:t>High-Risk Concept Flow Prototype</a:t>
            </a:r>
            <a:r>
              <a:rPr lang="en-CA" sz="2400" b="1" i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CA" sz="2400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CA" b="1" dirty="0">
                <a:solidFill>
                  <a:srgbClr val="0058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on AI Clarity</a:t>
            </a:r>
            <a:endParaRPr lang="en-US" dirty="0">
              <a:solidFill>
                <a:srgbClr val="0058A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F3A87-8538-63CD-E29D-22CDA996F9B0}"/>
              </a:ext>
            </a:extLst>
          </p:cNvPr>
          <p:cNvSpPr txBox="1"/>
          <p:nvPr/>
        </p:nvSpPr>
        <p:spPr>
          <a:xfrm>
            <a:off x="838200" y="1690688"/>
            <a:ext cx="10515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Scenario Title:</a:t>
            </a:r>
            <a:r>
              <a:rPr lang="en-CA" dirty="0"/>
              <a:t> </a:t>
            </a:r>
            <a:r>
              <a:rPr lang="en-CA" i="1" dirty="0"/>
              <a:t>Rate AI-Simplified Text (Yes/No Clarity Feedback)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Flow Description:</a:t>
            </a:r>
            <a:endParaRPr lang="en-CA" dirty="0"/>
          </a:p>
          <a:p>
            <a:r>
              <a:rPr lang="en-CA" i="1" dirty="0"/>
              <a:t>Given</a:t>
            </a:r>
            <a:r>
              <a:rPr lang="en-CA" dirty="0"/>
              <a:t> a simplified article is displayed,</a:t>
            </a:r>
          </a:p>
          <a:p>
            <a:r>
              <a:rPr lang="en-CA" i="1" dirty="0"/>
              <a:t>When</a:t>
            </a:r>
            <a:r>
              <a:rPr lang="en-CA" dirty="0"/>
              <a:t> the user selects “Was this clear? → Yes / No,”</a:t>
            </a:r>
          </a:p>
          <a:p>
            <a:r>
              <a:rPr lang="en-CA" i="1" dirty="0"/>
              <a:t>Then</a:t>
            </a:r>
            <a:r>
              <a:rPr lang="en-CA" dirty="0"/>
              <a:t> the response is logged with timestamp and confirmation: “Thanks for your feedback!”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Validation Focus:</a:t>
            </a:r>
            <a:endParaRPr lang="en-CA" dirty="0"/>
          </a:p>
          <a:p>
            <a:r>
              <a:rPr lang="en-CA" dirty="0"/>
              <a:t>Can users give feedback without interrupting reading flow?</a:t>
            </a:r>
          </a:p>
          <a:p>
            <a:r>
              <a:rPr lang="en-CA" dirty="0"/>
              <a:t>Is confirmation subtle yet noticeable?</a:t>
            </a:r>
          </a:p>
          <a:p>
            <a:r>
              <a:rPr lang="en-CA" dirty="0"/>
              <a:t>Do users understand that feedback improves future tailoring?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Edge Cases:</a:t>
            </a:r>
            <a:endParaRPr lang="en-CA" dirty="0"/>
          </a:p>
          <a:p>
            <a:r>
              <a:rPr lang="en-CA" dirty="0"/>
              <a:t>Multiple clicks only register once.</a:t>
            </a:r>
          </a:p>
          <a:p>
            <a:r>
              <a:rPr lang="en-CA" dirty="0"/>
              <a:t>“No” feedback triggers suggestion: “Try Intermediate Level.”</a:t>
            </a:r>
          </a:p>
        </p:txBody>
      </p:sp>
    </p:spTree>
    <p:extLst>
      <p:ext uri="{BB962C8B-B14F-4D97-AF65-F5344CB8AC3E}">
        <p14:creationId xmlns:p14="http://schemas.microsoft.com/office/powerpoint/2010/main" val="2076952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1402</Words>
  <Application>Microsoft Macintosh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news for u wireframes &amp; prototypes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High-Risk Concept Flow Prototype: AI Reading Level Toggle</vt:lpstr>
      <vt:lpstr>High-Risk Concept Flow Prototype: Tooltip Definitions (Highlight &amp; Explain Terms)</vt:lpstr>
      <vt:lpstr>High-Risk Concept Flow Prototype: Recommendations &amp; Feedback</vt:lpstr>
      <vt:lpstr>High-Risk Concept Flow Prototype: Topic Subscription &amp; Breaking News Alerts</vt:lpstr>
      <vt:lpstr>High-Risk Concept Flow Prototype: Feedback on AI Clarity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Kaura Sankaran</dc:creator>
  <cp:lastModifiedBy>Scarlett Wu</cp:lastModifiedBy>
  <cp:revision>7</cp:revision>
  <dcterms:created xsi:type="dcterms:W3CDTF">2025-10-24T20:44:53Z</dcterms:created>
  <dcterms:modified xsi:type="dcterms:W3CDTF">2025-10-25T03:03:23Z</dcterms:modified>
</cp:coreProperties>
</file>